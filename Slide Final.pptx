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8" r:id="rId2"/>
    <p:sldId id="278" r:id="rId3"/>
    <p:sldId id="273" r:id="rId4"/>
    <p:sldId id="263" r:id="rId5"/>
    <p:sldId id="277" r:id="rId6"/>
    <p:sldId id="275" r:id="rId7"/>
    <p:sldId id="279" r:id="rId8"/>
    <p:sldId id="276" r:id="rId9"/>
    <p:sldId id="280" r:id="rId10"/>
    <p:sldId id="265" r:id="rId11"/>
    <p:sldId id="281" r:id="rId12"/>
    <p:sldId id="282" r:id="rId13"/>
    <p:sldId id="285" r:id="rId14"/>
    <p:sldId id="286" r:id="rId15"/>
    <p:sldId id="287" r:id="rId16"/>
    <p:sldId id="283" r:id="rId17"/>
    <p:sldId id="284" r:id="rId18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F22787-061F-4177-B830-B7D484AF39C4}" v="9" dt="2026-07-08T02:47:55.47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7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úlio Brunno Coutinho" userId="f4c80643568f547a" providerId="LiveId" clId="{25303D8F-8EDE-4485-8307-009E7D07056B}"/>
    <pc:docChg chg="custSel addSld delSld modSld">
      <pc:chgData name="Júlio Brunno Coutinho" userId="f4c80643568f547a" providerId="LiveId" clId="{25303D8F-8EDE-4485-8307-009E7D07056B}" dt="2026-07-08T03:44:02.111" v="203" actId="47"/>
      <pc:docMkLst>
        <pc:docMk/>
      </pc:docMkLst>
      <pc:sldChg chg="modSp mod">
        <pc:chgData name="Júlio Brunno Coutinho" userId="f4c80643568f547a" providerId="LiveId" clId="{25303D8F-8EDE-4485-8307-009E7D07056B}" dt="2026-07-08T01:50:53.373" v="59" actId="20577"/>
        <pc:sldMkLst>
          <pc:docMk/>
          <pc:sldMk cId="776047379" sldId="258"/>
        </pc:sldMkLst>
        <pc:spChg chg="mod">
          <ac:chgData name="Júlio Brunno Coutinho" userId="f4c80643568f547a" providerId="LiveId" clId="{25303D8F-8EDE-4485-8307-009E7D07056B}" dt="2026-07-08T01:50:53.373" v="59" actId="20577"/>
          <ac:spMkLst>
            <pc:docMk/>
            <pc:sldMk cId="776047379" sldId="258"/>
            <ac:spMk id="4" creationId="{24737281-AEFF-2EF7-78FE-EB0BE1B3F87D}"/>
          </ac:spMkLst>
        </pc:spChg>
      </pc:sldChg>
      <pc:sldChg chg="addSp delSp modSp add mod">
        <pc:chgData name="Júlio Brunno Coutinho" userId="f4c80643568f547a" providerId="LiveId" clId="{25303D8F-8EDE-4485-8307-009E7D07056B}" dt="2026-07-08T02:22:52.807" v="137" actId="1076"/>
        <pc:sldMkLst>
          <pc:docMk/>
          <pc:sldMk cId="839213883" sldId="285"/>
        </pc:sldMkLst>
        <pc:spChg chg="del">
          <ac:chgData name="Júlio Brunno Coutinho" userId="f4c80643568f547a" providerId="LiveId" clId="{25303D8F-8EDE-4485-8307-009E7D07056B}" dt="2026-07-08T02:19:58.327" v="66" actId="478"/>
          <ac:spMkLst>
            <pc:docMk/>
            <pc:sldMk cId="839213883" sldId="285"/>
            <ac:spMk id="6" creationId="{6A0EF9A2-9122-A204-2245-2F2EF05906C4}"/>
          </ac:spMkLst>
        </pc:spChg>
        <pc:spChg chg="mod">
          <ac:chgData name="Júlio Brunno Coutinho" userId="f4c80643568f547a" providerId="LiveId" clId="{25303D8F-8EDE-4485-8307-009E7D07056B}" dt="2026-07-08T02:22:52.807" v="137" actId="1076"/>
          <ac:spMkLst>
            <pc:docMk/>
            <pc:sldMk cId="839213883" sldId="285"/>
            <ac:spMk id="11" creationId="{9A1281A0-B91C-AF5D-E841-DF05555BB8AE}"/>
          </ac:spMkLst>
        </pc:spChg>
        <pc:graphicFrameChg chg="del">
          <ac:chgData name="Júlio Brunno Coutinho" userId="f4c80643568f547a" providerId="LiveId" clId="{25303D8F-8EDE-4485-8307-009E7D07056B}" dt="2026-07-08T01:53:16.972" v="61" actId="478"/>
          <ac:graphicFrameMkLst>
            <pc:docMk/>
            <pc:sldMk cId="839213883" sldId="285"/>
            <ac:graphicFrameMk id="4" creationId="{88903D11-26C7-160B-0D4F-D75ED9805109}"/>
          </ac:graphicFrameMkLst>
        </pc:graphicFrameChg>
        <pc:picChg chg="add del mod">
          <ac:chgData name="Júlio Brunno Coutinho" userId="f4c80643568f547a" providerId="LiveId" clId="{25303D8F-8EDE-4485-8307-009E7D07056B}" dt="2026-07-08T01:55:01.764" v="65" actId="478"/>
          <ac:picMkLst>
            <pc:docMk/>
            <pc:sldMk cId="839213883" sldId="285"/>
            <ac:picMk id="5" creationId="{6C28D1E9-5040-B30C-F0F3-D8D68269F847}"/>
          </ac:picMkLst>
        </pc:picChg>
        <pc:picChg chg="add mod">
          <ac:chgData name="Júlio Brunno Coutinho" userId="f4c80643568f547a" providerId="LiveId" clId="{25303D8F-8EDE-4485-8307-009E7D07056B}" dt="2026-07-08T02:22:49.109" v="136" actId="1076"/>
          <ac:picMkLst>
            <pc:docMk/>
            <pc:sldMk cId="839213883" sldId="285"/>
            <ac:picMk id="8" creationId="{5904A0DE-8DAB-013C-1D0F-67C9022863AA}"/>
          </ac:picMkLst>
        </pc:picChg>
      </pc:sldChg>
      <pc:sldChg chg="addSp delSp modSp add mod">
        <pc:chgData name="Júlio Brunno Coutinho" userId="f4c80643568f547a" providerId="LiveId" clId="{25303D8F-8EDE-4485-8307-009E7D07056B}" dt="2026-07-08T02:36:56.772" v="161" actId="14100"/>
        <pc:sldMkLst>
          <pc:docMk/>
          <pc:sldMk cId="2056779297" sldId="286"/>
        </pc:sldMkLst>
        <pc:spChg chg="mod">
          <ac:chgData name="Júlio Brunno Coutinho" userId="f4c80643568f547a" providerId="LiveId" clId="{25303D8F-8EDE-4485-8307-009E7D07056B}" dt="2026-07-08T02:36:56.772" v="161" actId="14100"/>
          <ac:spMkLst>
            <pc:docMk/>
            <pc:sldMk cId="2056779297" sldId="286"/>
            <ac:spMk id="11" creationId="{A133391D-1865-E0A5-2267-4D18D13861D6}"/>
          </ac:spMkLst>
        </pc:spChg>
        <pc:picChg chg="add mod modCrop">
          <ac:chgData name="Júlio Brunno Coutinho" userId="f4c80643568f547a" providerId="LiveId" clId="{25303D8F-8EDE-4485-8307-009E7D07056B}" dt="2026-07-08T02:28:02.970" v="148" actId="14100"/>
          <ac:picMkLst>
            <pc:docMk/>
            <pc:sldMk cId="2056779297" sldId="286"/>
            <ac:picMk id="4" creationId="{5D16489D-DF7E-E24E-D4E6-8EC6406A5EDD}"/>
          </ac:picMkLst>
        </pc:picChg>
        <pc:picChg chg="del">
          <ac:chgData name="Júlio Brunno Coutinho" userId="f4c80643568f547a" providerId="LiveId" clId="{25303D8F-8EDE-4485-8307-009E7D07056B}" dt="2026-07-08T02:27:46.556" v="139" actId="478"/>
          <ac:picMkLst>
            <pc:docMk/>
            <pc:sldMk cId="2056779297" sldId="286"/>
            <ac:picMk id="8" creationId="{C2DB35A4-140F-592F-780C-2739D4EC7A38}"/>
          </ac:picMkLst>
        </pc:picChg>
      </pc:sldChg>
      <pc:sldChg chg="addSp delSp modSp add mod">
        <pc:chgData name="Júlio Brunno Coutinho" userId="f4c80643568f547a" providerId="LiveId" clId="{25303D8F-8EDE-4485-8307-009E7D07056B}" dt="2026-07-08T02:46:03.421" v="172" actId="1076"/>
        <pc:sldMkLst>
          <pc:docMk/>
          <pc:sldMk cId="1892096924" sldId="287"/>
        </pc:sldMkLst>
        <pc:spChg chg="mod">
          <ac:chgData name="Júlio Brunno Coutinho" userId="f4c80643568f547a" providerId="LiveId" clId="{25303D8F-8EDE-4485-8307-009E7D07056B}" dt="2026-07-08T02:46:03.421" v="172" actId="1076"/>
          <ac:spMkLst>
            <pc:docMk/>
            <pc:sldMk cId="1892096924" sldId="287"/>
            <ac:spMk id="11" creationId="{55153EDF-7FFB-C83F-3623-F2362F5C4861}"/>
          </ac:spMkLst>
        </pc:spChg>
        <pc:picChg chg="del">
          <ac:chgData name="Júlio Brunno Coutinho" userId="f4c80643568f547a" providerId="LiveId" clId="{25303D8F-8EDE-4485-8307-009E7D07056B}" dt="2026-07-08T02:42:09.258" v="168" actId="478"/>
          <ac:picMkLst>
            <pc:docMk/>
            <pc:sldMk cId="1892096924" sldId="287"/>
            <ac:picMk id="4" creationId="{4A3DB29F-6592-03B6-90DB-EBA3A25AEB58}"/>
          </ac:picMkLst>
        </pc:picChg>
        <pc:picChg chg="add mod">
          <ac:chgData name="Júlio Brunno Coutinho" userId="f4c80643568f547a" providerId="LiveId" clId="{25303D8F-8EDE-4485-8307-009E7D07056B}" dt="2026-07-08T02:42:14.140" v="170" actId="1076"/>
          <ac:picMkLst>
            <pc:docMk/>
            <pc:sldMk cId="1892096924" sldId="287"/>
            <ac:picMk id="5" creationId="{01E24F1D-B089-9580-B9DD-3094FAD9F906}"/>
          </ac:picMkLst>
        </pc:picChg>
      </pc:sldChg>
      <pc:sldChg chg="addSp delSp modSp add del mod">
        <pc:chgData name="Júlio Brunno Coutinho" userId="f4c80643568f547a" providerId="LiveId" clId="{25303D8F-8EDE-4485-8307-009E7D07056B}" dt="2026-07-08T03:44:02.111" v="203" actId="47"/>
        <pc:sldMkLst>
          <pc:docMk/>
          <pc:sldMk cId="2842759407" sldId="288"/>
        </pc:sldMkLst>
        <pc:picChg chg="add del mod modCrop">
          <ac:chgData name="Júlio Brunno Coutinho" userId="f4c80643568f547a" providerId="LiveId" clId="{25303D8F-8EDE-4485-8307-009E7D07056B}" dt="2026-07-08T03:28:55.667" v="187" actId="478"/>
          <ac:picMkLst>
            <pc:docMk/>
            <pc:sldMk cId="2842759407" sldId="288"/>
            <ac:picMk id="4" creationId="{486F8E06-7B04-4488-1A2B-A5976917D6F9}"/>
          </ac:picMkLst>
        </pc:picChg>
        <pc:picChg chg="del">
          <ac:chgData name="Júlio Brunno Coutinho" userId="f4c80643568f547a" providerId="LiveId" clId="{25303D8F-8EDE-4485-8307-009E7D07056B}" dt="2026-07-08T03:00:15.299" v="174" actId="478"/>
          <ac:picMkLst>
            <pc:docMk/>
            <pc:sldMk cId="2842759407" sldId="288"/>
            <ac:picMk id="5" creationId="{25ED6F0A-EA25-9AD9-3DAF-4D3E4ABF0360}"/>
          </ac:picMkLst>
        </pc:picChg>
        <pc:picChg chg="add mod modCrop">
          <ac:chgData name="Júlio Brunno Coutinho" userId="f4c80643568f547a" providerId="LiveId" clId="{25303D8F-8EDE-4485-8307-009E7D07056B}" dt="2026-07-08T03:31:32.587" v="202" actId="18131"/>
          <ac:picMkLst>
            <pc:docMk/>
            <pc:sldMk cId="2842759407" sldId="288"/>
            <ac:picMk id="6" creationId="{C407E675-EDE7-3FD4-CD5D-05337E3AE34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4BD10-B40B-441C-89C0-95F93F980C36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6FF57-9451-47D2-8DDE-43462B070D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3815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1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6893D-7B49-419C-B4E6-255FFBE6D4FD}" type="datetime1">
              <a:rPr lang="en-US" smtClean="0"/>
              <a:t>7/7/2026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00B39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00B39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1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2C569-0019-44BA-A286-D68FD5EF1472}" type="datetime1">
              <a:rPr lang="en-US" smtClean="0"/>
              <a:t>7/7/2026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00B39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1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B85FF-30F9-43F0-A89C-E3A113014390}" type="datetime1">
              <a:rPr lang="en-US" smtClean="0"/>
              <a:t>7/7/2026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38200" y="1186307"/>
            <a:ext cx="10512425" cy="25400"/>
          </a:xfrm>
          <a:custGeom>
            <a:avLst/>
            <a:gdLst/>
            <a:ahLst/>
            <a:cxnLst/>
            <a:rect l="l" t="t" r="r" b="b"/>
            <a:pathLst>
              <a:path w="10512425" h="25400">
                <a:moveTo>
                  <a:pt x="0" y="25400"/>
                </a:moveTo>
                <a:lnTo>
                  <a:pt x="10512044" y="25400"/>
                </a:lnTo>
                <a:lnTo>
                  <a:pt x="10512044" y="0"/>
                </a:lnTo>
                <a:lnTo>
                  <a:pt x="0" y="0"/>
                </a:lnTo>
                <a:lnTo>
                  <a:pt x="0" y="25400"/>
                </a:lnTo>
                <a:close/>
              </a:path>
            </a:pathLst>
          </a:custGeom>
          <a:solidFill>
            <a:srgbClr val="2C2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38200" y="1186307"/>
            <a:ext cx="10512425" cy="25400"/>
          </a:xfrm>
          <a:custGeom>
            <a:avLst/>
            <a:gdLst/>
            <a:ahLst/>
            <a:cxnLst/>
            <a:rect l="l" t="t" r="r" b="b"/>
            <a:pathLst>
              <a:path w="10512425" h="25400">
                <a:moveTo>
                  <a:pt x="0" y="25400"/>
                </a:moveTo>
                <a:lnTo>
                  <a:pt x="10512044" y="25400"/>
                </a:lnTo>
                <a:lnTo>
                  <a:pt x="10512044" y="0"/>
                </a:lnTo>
                <a:lnTo>
                  <a:pt x="0" y="0"/>
                </a:lnTo>
                <a:lnTo>
                  <a:pt x="0" y="25400"/>
                </a:lnTo>
                <a:close/>
              </a:path>
            </a:pathLst>
          </a:custGeom>
          <a:solidFill>
            <a:srgbClr val="2C2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615695" y="129539"/>
            <a:ext cx="2183130" cy="11163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00B39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1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40392-375E-469E-A528-3812468C04B7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1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35764-B253-4675-A8D8-3897AE98FF4D}" type="datetime1">
              <a:rPr lang="en-US" smtClean="0"/>
              <a:t>7/7/2026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38200" y="1186307"/>
            <a:ext cx="10512425" cy="25400"/>
          </a:xfrm>
          <a:custGeom>
            <a:avLst/>
            <a:gdLst/>
            <a:ahLst/>
            <a:cxnLst/>
            <a:rect l="l" t="t" r="r" b="b"/>
            <a:pathLst>
              <a:path w="10512425" h="25400">
                <a:moveTo>
                  <a:pt x="0" y="25400"/>
                </a:moveTo>
                <a:lnTo>
                  <a:pt x="10512044" y="25400"/>
                </a:lnTo>
                <a:lnTo>
                  <a:pt x="10512044" y="0"/>
                </a:lnTo>
                <a:lnTo>
                  <a:pt x="0" y="0"/>
                </a:lnTo>
                <a:lnTo>
                  <a:pt x="0" y="25400"/>
                </a:lnTo>
                <a:close/>
              </a:path>
            </a:pathLst>
          </a:custGeom>
          <a:solidFill>
            <a:srgbClr val="2C2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38200" y="1186307"/>
            <a:ext cx="10512425" cy="25400"/>
          </a:xfrm>
          <a:custGeom>
            <a:avLst/>
            <a:gdLst/>
            <a:ahLst/>
            <a:cxnLst/>
            <a:rect l="l" t="t" r="r" b="b"/>
            <a:pathLst>
              <a:path w="10512425" h="25400">
                <a:moveTo>
                  <a:pt x="0" y="25400"/>
                </a:moveTo>
                <a:lnTo>
                  <a:pt x="10512044" y="25400"/>
                </a:lnTo>
                <a:lnTo>
                  <a:pt x="10512044" y="0"/>
                </a:lnTo>
                <a:lnTo>
                  <a:pt x="0" y="0"/>
                </a:lnTo>
                <a:lnTo>
                  <a:pt x="0" y="25400"/>
                </a:lnTo>
                <a:close/>
              </a:path>
            </a:pathLst>
          </a:custGeom>
          <a:solidFill>
            <a:srgbClr val="2C2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08731" y="1622247"/>
            <a:ext cx="6574536" cy="1937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rgbClr val="00B39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08731" y="1622247"/>
            <a:ext cx="6574536" cy="1937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rgbClr val="00B39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1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865F4-3977-41CD-BF71-6DBA635FFF90}" type="datetime1">
              <a:rPr lang="en-US" smtClean="0"/>
              <a:t>7/7/2026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557" y="6465214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F0FF9-822F-0371-F0FA-26980A744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C734DE7-D106-5357-8EC1-A2EA7E1B0CB9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53517E7-9B68-8ED1-3DF6-7BF043B8E0E0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74DAD11-A659-D88B-2384-6C19C90564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6723" y="1209672"/>
            <a:ext cx="10555377" cy="1974257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algn="just"/>
            <a:r>
              <a:rPr lang="pt-BR" sz="4000" dirty="0"/>
              <a:t>Análise do desempenho da inteligência artificial generativa na detecção de pedidos de voto antecipados na redes sociais de políticos</a:t>
            </a: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24737281-AEFF-2EF7-78FE-EB0BE1B3F87D}"/>
              </a:ext>
            </a:extLst>
          </p:cNvPr>
          <p:cNvSpPr txBox="1"/>
          <p:nvPr/>
        </p:nvSpPr>
        <p:spPr>
          <a:xfrm>
            <a:off x="1600200" y="5334000"/>
            <a:ext cx="9144000" cy="113685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643255" marR="635000" algn="ctr">
              <a:spcBef>
                <a:spcPts val="185"/>
              </a:spcBef>
            </a:pPr>
            <a:r>
              <a:rPr lang="pt-BR" sz="2400" b="1" spc="-15" noProof="0" dirty="0">
                <a:solidFill>
                  <a:srgbClr val="2C2F46"/>
                </a:solidFill>
                <a:cs typeface="Calibri"/>
              </a:rPr>
              <a:t> Daniella </a:t>
            </a:r>
            <a:r>
              <a:rPr lang="pt-BR" sz="2400" b="1" spc="-15" noProof="0" dirty="0" err="1">
                <a:solidFill>
                  <a:srgbClr val="2C2F46"/>
                </a:solidFill>
                <a:cs typeface="Calibri"/>
              </a:rPr>
              <a:t>Glaete</a:t>
            </a:r>
            <a:r>
              <a:rPr lang="pt-BR" sz="2400" b="1" spc="-15" noProof="0" dirty="0">
                <a:solidFill>
                  <a:srgbClr val="2C2F46"/>
                </a:solidFill>
                <a:cs typeface="Calibri"/>
              </a:rPr>
              <a:t>, Júlio Coutinho e Marcos </a:t>
            </a:r>
            <a:r>
              <a:rPr lang="pt-BR" sz="2400" b="1" spc="-15" dirty="0">
                <a:solidFill>
                  <a:srgbClr val="2C2F46"/>
                </a:solidFill>
                <a:cs typeface="Calibri"/>
              </a:rPr>
              <a:t>Antônio</a:t>
            </a:r>
            <a:endParaRPr lang="pt-BR" sz="2400" b="1" spc="-15" noProof="0" dirty="0">
              <a:solidFill>
                <a:srgbClr val="2C2F46"/>
              </a:solidFill>
              <a:cs typeface="Calibri"/>
            </a:endParaRPr>
          </a:p>
          <a:p>
            <a:pPr marL="643255" marR="635000" algn="ctr">
              <a:spcBef>
                <a:spcPts val="185"/>
              </a:spcBef>
            </a:pPr>
            <a:r>
              <a:rPr lang="pt-BR" sz="2000" spc="-5" noProof="0" dirty="0">
                <a:solidFill>
                  <a:srgbClr val="2C2F46"/>
                </a:solidFill>
                <a:latin typeface="Calibri"/>
                <a:cs typeface="Calibri"/>
              </a:rPr>
              <a:t>Programa de Pós Graduação de Mestrado em Informática Aplicada</a:t>
            </a:r>
            <a:endParaRPr lang="pt-BR" sz="2000" noProof="0" dirty="0">
              <a:latin typeface="Calibri"/>
              <a:cs typeface="Calibri"/>
            </a:endParaRPr>
          </a:p>
          <a:p>
            <a:pPr algn="ctr">
              <a:spcBef>
                <a:spcPts val="755"/>
              </a:spcBef>
            </a:pPr>
            <a:r>
              <a:rPr lang="pt-BR" sz="2000" spc="-10" noProof="0" dirty="0">
                <a:solidFill>
                  <a:srgbClr val="2C2F46"/>
                </a:solidFill>
                <a:latin typeface="Calibri"/>
                <a:cs typeface="Calibri"/>
              </a:rPr>
              <a:t>Universidade Federal </a:t>
            </a:r>
            <a:r>
              <a:rPr lang="pt-BR" sz="2000" spc="-5" noProof="0" dirty="0">
                <a:solidFill>
                  <a:srgbClr val="2C2F46"/>
                </a:solidFill>
                <a:latin typeface="Calibri"/>
                <a:cs typeface="Calibri"/>
              </a:rPr>
              <a:t>Rural </a:t>
            </a:r>
            <a:r>
              <a:rPr lang="pt-BR" sz="2000" noProof="0" dirty="0">
                <a:solidFill>
                  <a:srgbClr val="2C2F46"/>
                </a:solidFill>
                <a:latin typeface="Calibri"/>
                <a:cs typeface="Calibri"/>
              </a:rPr>
              <a:t>de</a:t>
            </a:r>
            <a:r>
              <a:rPr lang="pt-BR" sz="2000" spc="15" noProof="0" dirty="0">
                <a:solidFill>
                  <a:srgbClr val="2C2F46"/>
                </a:solidFill>
                <a:latin typeface="Calibri"/>
                <a:cs typeface="Calibri"/>
              </a:rPr>
              <a:t> </a:t>
            </a:r>
            <a:r>
              <a:rPr lang="pt-BR" sz="2000" spc="-10" noProof="0" dirty="0">
                <a:solidFill>
                  <a:srgbClr val="2C2F46"/>
                </a:solidFill>
                <a:latin typeface="Calibri"/>
                <a:cs typeface="Calibri"/>
              </a:rPr>
              <a:t>Pernambuco</a:t>
            </a:r>
            <a:endParaRPr lang="pt-BR" sz="2000" noProof="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6047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9905F-F319-2A6C-A04B-E6CF23DE3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19F1DA-534F-531C-5BF8-03B8D66BC58E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EC738B7-ECF5-1B43-505B-71DFE41C0390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3FDA0BD-990A-D4FC-3E4F-DA3AAD457D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04672"/>
            <a:ext cx="9144000" cy="566821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>
              <a:lnSpc>
                <a:spcPts val="3240"/>
              </a:lnSpc>
            </a:pPr>
            <a:r>
              <a:rPr lang="pt-BR" sz="4000" noProof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e motivação</a:t>
            </a:r>
            <a:endParaRPr lang="pt-BR" sz="4000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1694F0D5-3F2E-217A-6065-F6C02B54B4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749738" y="6575178"/>
            <a:ext cx="231775" cy="177800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pt-BR" noProof="0" smtClean="0"/>
              <a:t>2</a:t>
            </a:fld>
            <a:endParaRPr lang="pt-BR" noProof="0" dirty="0"/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BA640E92-AADF-4A18-C20B-48EA23DD63F5}"/>
              </a:ext>
            </a:extLst>
          </p:cNvPr>
          <p:cNvSpPr txBox="1"/>
          <p:nvPr/>
        </p:nvSpPr>
        <p:spPr>
          <a:xfrm>
            <a:off x="685800" y="2286000"/>
            <a:ext cx="10591800" cy="436337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pt-BR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A comunicação política foi profundamente transformada pelas mídias sociais, tornando-se peça central nas estratégias de campanha.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Métricas digitais correlacionam-se diretamente com resultados nas urnas.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Uso estratégico do Instagram e demais redes sociais para conversão de eleitores.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Desafio institucional: equilíbrio entre liberdade e integridade democrática com base na legislação eleitoral.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endParaRPr lang="pt-BR" sz="2000" noProof="0" dirty="0"/>
          </a:p>
        </p:txBody>
      </p:sp>
    </p:spTree>
    <p:extLst>
      <p:ext uri="{BB962C8B-B14F-4D97-AF65-F5344CB8AC3E}">
        <p14:creationId xmlns:p14="http://schemas.microsoft.com/office/powerpoint/2010/main" val="2398681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9905F-F319-2A6C-A04B-E6CF23DE3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19F1DA-534F-531C-5BF8-03B8D66BC58E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EC738B7-ECF5-1B43-505B-71DFE41C0390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3FDA0BD-990A-D4FC-3E4F-DA3AAD457D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04672"/>
            <a:ext cx="9144000" cy="1576713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>
              <a:lnSpc>
                <a:spcPts val="3240"/>
              </a:lnSpc>
            </a:pPr>
            <a:r>
              <a:rPr lang="pt-BR" sz="4000" noProof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</a:t>
            </a:r>
            <a:r>
              <a:rPr lang="pt-BR" sz="4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Eleitoral</a:t>
            </a:r>
            <a:endParaRPr lang="pt-BR" sz="4000" noProof="0" dirty="0"/>
          </a:p>
          <a:p>
            <a:pPr marL="12700" marR="5080" indent="908685" algn="ctr">
              <a:lnSpc>
                <a:spcPts val="7130"/>
              </a:lnSpc>
              <a:spcBef>
                <a:spcPts val="994"/>
              </a:spcBef>
            </a:pPr>
            <a:endParaRPr lang="pt-BR" sz="1800" spc="-5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1694F0D5-3F2E-217A-6065-F6C02B54B4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749738" y="6575178"/>
            <a:ext cx="231775" cy="177800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pt-BR" noProof="0" smtClean="0"/>
              <a:t>3</a:t>
            </a:fld>
            <a:endParaRPr lang="pt-BR" noProof="0" dirty="0"/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BA640E92-AADF-4A18-C20B-48EA23DD63F5}"/>
              </a:ext>
            </a:extLst>
          </p:cNvPr>
          <p:cNvSpPr txBox="1"/>
          <p:nvPr/>
        </p:nvSpPr>
        <p:spPr>
          <a:xfrm>
            <a:off x="685800" y="1752600"/>
            <a:ext cx="10591800" cy="4178708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pt-BR" sz="2000" b="1" dirty="0"/>
              <a:t>Lei nº 9.504/1997 (Art. 36-A): </a:t>
            </a:r>
            <a:r>
              <a:rPr lang="pt-BR" sz="2000" dirty="0"/>
              <a:t>Estabelece as normas para as eleições e define que a menção a uma pretensa candidatura ou a exaltação de qualidades pessoais não configuram propaganda antecipada, desde que não envolvam um pedido explícito de voto. 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pt-BR" sz="2000" b="1" dirty="0"/>
              <a:t>Resolução TSE nº 23.610/2019:</a:t>
            </a:r>
            <a:r>
              <a:rPr lang="pt-BR" sz="2000" dirty="0"/>
              <a:t> Dispõe sobre a propaganda eleitoral, a utilização do horário gratuito e as condutas ilícitas permitidas ou vedadas durante a campanha. 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pt-BR" sz="2000" b="1" dirty="0"/>
              <a:t>Resolução TSE nº 23.732/2024:</a:t>
            </a:r>
            <a:r>
              <a:rPr lang="pt-BR" sz="2000" dirty="0"/>
              <a:t> Esta atualização é crucial para o seu estudo, pois esclarece que o "pedido explícito de voto" não se restringe ao uso da expressão literal "vote em", mas pode ser inferido por meio de termos e expressões ("palavras mágicas") que transmitam o mesmo conteúdo semântico. </a:t>
            </a:r>
            <a:endParaRPr lang="pt-BR" sz="2000" noProof="0" dirty="0"/>
          </a:p>
        </p:txBody>
      </p:sp>
    </p:spTree>
    <p:extLst>
      <p:ext uri="{BB962C8B-B14F-4D97-AF65-F5344CB8AC3E}">
        <p14:creationId xmlns:p14="http://schemas.microsoft.com/office/powerpoint/2010/main" val="678080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FB060-C54F-6C1A-7159-059CEC9F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EAC64A-CFAF-C89F-4E30-1222F0058C5F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B0D8891-C1CC-2746-AFB7-263E054DC7A5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51F9E4B-44B3-FEF9-21C8-3A4D621B9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04672"/>
            <a:ext cx="9144000" cy="552138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4000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</a:t>
            </a:r>
            <a:r>
              <a:rPr lang="en-US" sz="4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pt-BR" sz="4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Social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96CEA96F-920C-7450-5876-46373EAED9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749738" y="6575178"/>
            <a:ext cx="231775" cy="177800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pt-BR" noProof="0" smtClean="0"/>
              <a:t>4</a:t>
            </a:fld>
            <a:endParaRPr lang="pt-BR" noProof="0" dirty="0"/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6E161D61-12ED-0B62-51E6-0BCDC5A03E29}"/>
              </a:ext>
            </a:extLst>
          </p:cNvPr>
          <p:cNvSpPr txBox="1"/>
          <p:nvPr/>
        </p:nvSpPr>
        <p:spPr>
          <a:xfrm>
            <a:off x="685800" y="1981200"/>
            <a:ext cx="9144000" cy="3901709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1" dirty="0"/>
              <a:t>Volume Massivo</a:t>
            </a:r>
          </a:p>
          <a:p>
            <a:r>
              <a:rPr lang="pt-BR" sz="2800" dirty="0"/>
              <a:t>O volume de denúncias e postagens torna a análise manual pela Justiça Eleitoral humanamente inviável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1" dirty="0"/>
              <a:t>Velocidade</a:t>
            </a:r>
          </a:p>
          <a:p>
            <a:r>
              <a:rPr lang="pt-BR" sz="2800" dirty="0"/>
              <a:t>Infrações como "pedido de voto antecipado" precisam de sanções rápidas para desencorajar a prática ilícita.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1" dirty="0"/>
              <a:t>Integridade</a:t>
            </a:r>
          </a:p>
          <a:p>
            <a:r>
              <a:rPr lang="pt-BR" sz="2800" dirty="0"/>
              <a:t>A falta de monitoramento eficiente compromete a isonomia do pleito e a paridade entre os candidatos.</a:t>
            </a:r>
            <a:endParaRPr lang="pt-BR" sz="3200" noProof="0" dirty="0"/>
          </a:p>
        </p:txBody>
      </p:sp>
    </p:spTree>
    <p:extLst>
      <p:ext uri="{BB962C8B-B14F-4D97-AF65-F5344CB8AC3E}">
        <p14:creationId xmlns:p14="http://schemas.microsoft.com/office/powerpoint/2010/main" val="153668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FB060-C54F-6C1A-7159-059CEC9F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EAC64A-CFAF-C89F-4E30-1222F0058C5F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B0D8891-C1CC-2746-AFB7-263E054DC7A5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51F9E4B-44B3-FEF9-21C8-3A4D621B9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04672"/>
            <a:ext cx="9144000" cy="141000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>
              <a:lnSpc>
                <a:spcPts val="3240"/>
              </a:lnSpc>
            </a:pPr>
            <a:r>
              <a:rPr lang="en-US" sz="4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Lacuna de Pesquisa</a:t>
            </a:r>
            <a:endParaRPr lang="en-US" sz="4000" dirty="0"/>
          </a:p>
          <a:p>
            <a:pPr marL="12700" marR="5080" indent="908685" algn="ctr">
              <a:lnSpc>
                <a:spcPts val="7130"/>
              </a:lnSpc>
              <a:spcBef>
                <a:spcPts val="994"/>
              </a:spcBef>
            </a:pPr>
            <a:endParaRPr lang="pt-BR" sz="1800" spc="-5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96CEA96F-920C-7450-5876-46373EAED9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749738" y="6575178"/>
            <a:ext cx="231775" cy="177800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pt-BR" noProof="0" smtClean="0"/>
              <a:t>5</a:t>
            </a:fld>
            <a:endParaRPr lang="pt-BR" noProof="0" dirty="0"/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6E161D61-12ED-0B62-51E6-0BCDC5A03E29}"/>
              </a:ext>
            </a:extLst>
          </p:cNvPr>
          <p:cNvSpPr txBox="1"/>
          <p:nvPr/>
        </p:nvSpPr>
        <p:spPr>
          <a:xfrm>
            <a:off x="655948" y="1600200"/>
            <a:ext cx="10664825" cy="547137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Estudos limitados </a:t>
            </a:r>
            <a:r>
              <a:rPr lang="pt-BR" sz="2800" dirty="0"/>
              <a:t>sobre o uso de IA em transcrições de vídeos de candidatos sob investigação real.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Falta de comparação sistemática </a:t>
            </a:r>
            <a:r>
              <a:rPr lang="pt-BR" sz="2800" dirty="0"/>
              <a:t>entre famílias de modelos (Chat GPT, </a:t>
            </a:r>
            <a:r>
              <a:rPr lang="pt-BR" sz="2800" dirty="0" err="1"/>
              <a:t>Gemini</a:t>
            </a:r>
            <a:r>
              <a:rPr lang="pt-BR" sz="2800" dirty="0"/>
              <a:t>, </a:t>
            </a:r>
            <a:r>
              <a:rPr lang="pt-BR" sz="2800" dirty="0" err="1"/>
              <a:t>DeepSeek</a:t>
            </a:r>
            <a:r>
              <a:rPr lang="pt-BR" sz="2800" dirty="0"/>
              <a:t>) no mesmo design e também é a necessidade de testar em outros modelos.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Necessidade de validar estratégias de prompt </a:t>
            </a:r>
            <a:r>
              <a:rPr lang="pt-BR" sz="2800" dirty="0"/>
              <a:t>(</a:t>
            </a:r>
            <a:r>
              <a:rPr lang="pt-BR" sz="2800" dirty="0" err="1"/>
              <a:t>One-shot</a:t>
            </a:r>
            <a:r>
              <a:rPr lang="pt-BR" sz="2800" dirty="0"/>
              <a:t> / </a:t>
            </a:r>
            <a:r>
              <a:rPr lang="pt-BR" sz="2800" dirty="0" err="1"/>
              <a:t>Few</a:t>
            </a:r>
            <a:r>
              <a:rPr lang="pt-BR" sz="2800" dirty="0"/>
              <a:t> </a:t>
            </a:r>
            <a:r>
              <a:rPr lang="pt-BR" sz="2800" dirty="0" err="1"/>
              <a:t>Shot</a:t>
            </a:r>
            <a:r>
              <a:rPr lang="pt-BR" sz="2800" dirty="0"/>
              <a:t> e </a:t>
            </a:r>
            <a:r>
              <a:rPr lang="pt-BR" sz="2800" dirty="0" err="1"/>
              <a:t>CoT</a:t>
            </a:r>
            <a:r>
              <a:rPr lang="pt-BR" sz="2800" dirty="0"/>
              <a:t>) para o jurídico.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50000"/>
              </a:lnSpc>
              <a:buSzPct val="100000"/>
            </a:pPr>
            <a:endParaRPr lang="pt-BR" sz="2000" noProof="0" dirty="0"/>
          </a:p>
        </p:txBody>
      </p:sp>
    </p:spTree>
    <p:extLst>
      <p:ext uri="{BB962C8B-B14F-4D97-AF65-F5344CB8AC3E}">
        <p14:creationId xmlns:p14="http://schemas.microsoft.com/office/powerpoint/2010/main" val="1786823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A2CE5-C019-7670-75FA-52486C21E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C61E6D8-F869-2493-19EB-CDF8482BC4BA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B8DFA3-974F-6318-FF6F-96F1AA327CC3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840B307-7D66-7C58-9BAA-A36FD1570E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04672"/>
            <a:ext cx="9144000" cy="141000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>
              <a:lnSpc>
                <a:spcPts val="3240"/>
              </a:lnSpc>
            </a:pPr>
            <a:r>
              <a:rPr lang="en-US" sz="4000" dirty="0" err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Respondendo</a:t>
            </a:r>
            <a:r>
              <a:rPr lang="en-US" sz="4000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 as </a:t>
            </a:r>
            <a:r>
              <a:rPr lang="en-US" sz="4000" dirty="0" err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questões</a:t>
            </a:r>
            <a:endParaRPr lang="en-US" sz="4000" dirty="0"/>
          </a:p>
          <a:p>
            <a:pPr marL="12700" marR="5080" indent="908685" algn="ctr">
              <a:lnSpc>
                <a:spcPts val="7130"/>
              </a:lnSpc>
              <a:spcBef>
                <a:spcPts val="994"/>
              </a:spcBef>
            </a:pPr>
            <a:endParaRPr lang="pt-BR" sz="1800" spc="-5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3276BC1F-0AB4-05CA-EDAC-DC72A132293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749738" y="6575178"/>
            <a:ext cx="231775" cy="177800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pt-BR" noProof="0" smtClean="0"/>
              <a:t>6</a:t>
            </a:fld>
            <a:endParaRPr lang="pt-BR" noProof="0" dirty="0"/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50AEE28C-0067-F7F9-E208-0C7C04E56D73}"/>
              </a:ext>
            </a:extLst>
          </p:cNvPr>
          <p:cNvSpPr txBox="1"/>
          <p:nvPr/>
        </p:nvSpPr>
        <p:spPr>
          <a:xfrm>
            <a:off x="838200" y="1609746"/>
            <a:ext cx="10533902" cy="4578818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algn="just"/>
            <a:r>
              <a:rPr lang="pt-BR" sz="3200" b="1" dirty="0"/>
              <a:t>R</a:t>
            </a:r>
            <a:r>
              <a:rPr lang="pt-BR" sz="3200" b="1" noProof="0" dirty="0"/>
              <a:t>Q1</a:t>
            </a:r>
            <a:r>
              <a:rPr lang="pt-BR" sz="3200" noProof="0" dirty="0"/>
              <a:t> - </a:t>
            </a:r>
            <a:r>
              <a:rPr lang="pt-BR" sz="3200" dirty="0"/>
              <a:t>"</a:t>
            </a:r>
            <a:r>
              <a:rPr lang="pt-BR" sz="2800" dirty="0"/>
              <a:t>Quais combinações entre modelos de IA generativa e estratégias de prompt são mais eficazes para detectar possíveis infrações eleitorais em transcrições de vídeos?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noProof="0" dirty="0"/>
              <a:t> </a:t>
            </a:r>
            <a:r>
              <a:rPr lang="pt-BR" sz="3200" b="1" noProof="0" dirty="0"/>
              <a:t>RQ2</a:t>
            </a:r>
            <a:r>
              <a:rPr lang="pt-BR" sz="3200" noProof="0" dirty="0"/>
              <a:t> – </a:t>
            </a:r>
            <a:r>
              <a:rPr lang="pt-BR" sz="3200" dirty="0"/>
              <a:t>"</a:t>
            </a:r>
            <a:r>
              <a:rPr lang="pt-BR" sz="2800" dirty="0"/>
              <a:t>Em que medida estratégias de prompt mais elaboradas produzem respostas mais consistentes e úteis do que instruções mais diretas em tarefas de análise automatizada de possíveis infrações eleitorais?</a:t>
            </a:r>
            <a:endParaRPr lang="pt-BR" sz="3200" dirty="0"/>
          </a:p>
          <a:p>
            <a:pPr>
              <a:lnSpc>
                <a:spcPct val="150000"/>
              </a:lnSpc>
              <a:buSzPct val="100000"/>
            </a:pPr>
            <a:endParaRPr lang="pt-BR" sz="2000" dirty="0"/>
          </a:p>
          <a:p>
            <a:pPr>
              <a:lnSpc>
                <a:spcPct val="150000"/>
              </a:lnSpc>
              <a:buSzPct val="100000"/>
            </a:pPr>
            <a:endParaRPr lang="pt-BR" sz="2000" noProof="0" dirty="0"/>
          </a:p>
        </p:txBody>
      </p:sp>
    </p:spTree>
    <p:extLst>
      <p:ext uri="{BB962C8B-B14F-4D97-AF65-F5344CB8AC3E}">
        <p14:creationId xmlns:p14="http://schemas.microsoft.com/office/powerpoint/2010/main" val="4109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A2CE5-C019-7670-75FA-52486C21E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C61E6D8-F869-2493-19EB-CDF8482BC4BA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B8DFA3-974F-6318-FF6F-96F1AA327CC3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840B307-7D66-7C58-9BAA-A36FD1570E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04672"/>
            <a:ext cx="9144000" cy="1576713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>
              <a:lnSpc>
                <a:spcPts val="3240"/>
              </a:lnSpc>
            </a:pPr>
            <a:r>
              <a:rPr lang="en-US" sz="4000" dirty="0" err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Objetivo</a:t>
            </a:r>
            <a:r>
              <a:rPr lang="en-US" sz="4000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 da </a:t>
            </a:r>
            <a:r>
              <a:rPr lang="en-US" sz="4000" dirty="0" err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Pesquisa</a:t>
            </a:r>
            <a:endParaRPr lang="en-US" sz="4000" dirty="0"/>
          </a:p>
          <a:p>
            <a:pPr marL="12700" marR="5080" indent="908685" algn="ctr">
              <a:lnSpc>
                <a:spcPts val="7130"/>
              </a:lnSpc>
              <a:spcBef>
                <a:spcPts val="994"/>
              </a:spcBef>
            </a:pPr>
            <a:endParaRPr lang="pt-BR" sz="1800" spc="-5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3276BC1F-0AB4-05CA-EDAC-DC72A132293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749738" y="6575178"/>
            <a:ext cx="231775" cy="177800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pt-BR" noProof="0" smtClean="0"/>
              <a:t>7</a:t>
            </a:fld>
            <a:endParaRPr lang="pt-BR" noProof="0" dirty="0"/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50AEE28C-0067-F7F9-E208-0C7C04E56D73}"/>
              </a:ext>
            </a:extLst>
          </p:cNvPr>
          <p:cNvSpPr txBox="1"/>
          <p:nvPr/>
        </p:nvSpPr>
        <p:spPr>
          <a:xfrm>
            <a:off x="838200" y="1609746"/>
            <a:ext cx="10533902" cy="2239716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algn="just"/>
            <a:r>
              <a:rPr lang="pt-BR" sz="2800" dirty="0"/>
              <a:t>Investigar a eficácia de diferentes abordagens de IA Generativa para identificar infrações eleitorais em vídeos, visando auxiliar órgãos de fiscalização no monitoramento e sanção automatizada.</a:t>
            </a:r>
          </a:p>
          <a:p>
            <a:pPr>
              <a:lnSpc>
                <a:spcPct val="150000"/>
              </a:lnSpc>
              <a:buSzPct val="100000"/>
            </a:pPr>
            <a:endParaRPr lang="pt-BR" sz="2000" dirty="0"/>
          </a:p>
          <a:p>
            <a:pPr>
              <a:lnSpc>
                <a:spcPct val="150000"/>
              </a:lnSpc>
              <a:buSzPct val="100000"/>
            </a:pPr>
            <a:endParaRPr lang="pt-BR" sz="2000" noProof="0" dirty="0"/>
          </a:p>
        </p:txBody>
      </p:sp>
    </p:spTree>
    <p:extLst>
      <p:ext uri="{BB962C8B-B14F-4D97-AF65-F5344CB8AC3E}">
        <p14:creationId xmlns:p14="http://schemas.microsoft.com/office/powerpoint/2010/main" val="645144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66D69-756E-0022-0537-9398BB22E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52C7EC-3246-8350-7128-900A2D32F604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BD8871C-266C-51E1-5737-AD671B4061AE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3B79001-7D85-C67D-FD36-2E9E62645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04672"/>
            <a:ext cx="9144000" cy="1576713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>
              <a:lnSpc>
                <a:spcPts val="3240"/>
              </a:lnSpc>
            </a:pPr>
            <a:r>
              <a:rPr lang="en-US" sz="4000" dirty="0" err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Materiais</a:t>
            </a:r>
            <a:r>
              <a:rPr lang="en-US" sz="4000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 / Dataset</a:t>
            </a:r>
            <a:endParaRPr lang="en-US" sz="4000" dirty="0"/>
          </a:p>
          <a:p>
            <a:pPr marL="12700" marR="5080" indent="908685" algn="ctr">
              <a:lnSpc>
                <a:spcPts val="7130"/>
              </a:lnSpc>
              <a:spcBef>
                <a:spcPts val="994"/>
              </a:spcBef>
            </a:pPr>
            <a:endParaRPr lang="pt-BR" sz="1800" spc="-5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CC8AF716-0716-415B-D252-69BEBF1FF5B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749738" y="6575178"/>
            <a:ext cx="231775" cy="177800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pt-BR" noProof="0" smtClean="0"/>
              <a:t>8</a:t>
            </a:fld>
            <a:endParaRPr lang="pt-BR" noProof="0" dirty="0"/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21E0E321-06C0-D30F-FF09-12A311427EB0}"/>
              </a:ext>
            </a:extLst>
          </p:cNvPr>
          <p:cNvSpPr txBox="1"/>
          <p:nvPr/>
        </p:nvSpPr>
        <p:spPr>
          <a:xfrm>
            <a:off x="719579" y="1447800"/>
            <a:ext cx="10515600" cy="4481227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800" dirty="0"/>
              <a:t>A etapa inicial consistiu na coleta de vídeos publicados no Instagram por 2 atores políticos que haviam sido alvo de procedimento de investigação relacionado a possível  infração eleitoral. A seleção dos materiais buscou reunir conteúdos potencialmente relevantes do ponto de vista jurídico e eleitoral, especialmente publicações associadas a indícios de propaganda irregular, pedido antecipado de votos ou outras condutas sujeitas à apreciação da Justiça Eleitoral.</a:t>
            </a:r>
          </a:p>
        </p:txBody>
      </p:sp>
    </p:spTree>
    <p:extLst>
      <p:ext uri="{BB962C8B-B14F-4D97-AF65-F5344CB8AC3E}">
        <p14:creationId xmlns:p14="http://schemas.microsoft.com/office/powerpoint/2010/main" val="1719560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1CF9C-E698-C28C-90E8-A5C2F282D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330FDBF-215B-65AD-3A97-5BBFBFA7B370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B8FD52C-85C1-D942-5D33-1C1234522F65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FF77239-6455-4F4B-69A8-28AA0A4CC5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04672"/>
            <a:ext cx="9144000" cy="627543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rtl="0"/>
            <a:r>
              <a:rPr lang="pt-BR" sz="4000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Fluxo Metodológico (PIPELINE)</a:t>
            </a:r>
          </a:p>
          <a:p>
            <a:br>
              <a:rPr lang="pt-BR" sz="4000" dirty="0"/>
            </a:br>
            <a:endParaRPr lang="pt-BR" sz="4000" dirty="0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br>
              <a:rPr lang="pt-BR" b="0" dirty="0"/>
            </a:br>
            <a:endParaRPr lang="pt-BR" sz="4000" dirty="0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br>
              <a:rPr lang="pt-BR" b="0" dirty="0"/>
            </a:br>
            <a:endParaRPr lang="en-US" sz="4000" dirty="0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12700" marR="5080" indent="908685" algn="ctr">
              <a:lnSpc>
                <a:spcPts val="7130"/>
              </a:lnSpc>
              <a:spcBef>
                <a:spcPts val="994"/>
              </a:spcBef>
            </a:pPr>
            <a:endParaRPr lang="pt-BR" sz="1800" spc="-5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06E09CB0-A704-146F-6AF0-28BEB00931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749738" y="6575178"/>
            <a:ext cx="334966" cy="211638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pt-BR" noProof="0" smtClean="0"/>
              <a:t>9</a:t>
            </a:fld>
            <a:endParaRPr lang="pt-BR" noProof="0" dirty="0"/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D09FA944-8D1B-CD00-4288-50B945B7EB2B}"/>
              </a:ext>
            </a:extLst>
          </p:cNvPr>
          <p:cNvSpPr txBox="1"/>
          <p:nvPr/>
        </p:nvSpPr>
        <p:spPr>
          <a:xfrm>
            <a:off x="682375" y="1594331"/>
            <a:ext cx="10689726" cy="476348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r>
              <a:rPr lang="pt-BR" sz="2800" b="1" dirty="0"/>
              <a:t>1. Coleta</a:t>
            </a:r>
          </a:p>
          <a:p>
            <a:r>
              <a:rPr lang="pt-BR" sz="2800" dirty="0" err="1"/>
              <a:t>Dataset</a:t>
            </a:r>
            <a:r>
              <a:rPr lang="pt-BR" sz="2800" dirty="0"/>
              <a:t> de vídeos do Instagram de políticos sob investigação real por propaganda antecipada</a:t>
            </a:r>
            <a:br>
              <a:rPr lang="pt-BR" sz="2800" dirty="0"/>
            </a:br>
            <a:endParaRPr lang="pt-BR" sz="2800" dirty="0"/>
          </a:p>
          <a:p>
            <a:r>
              <a:rPr lang="pt-BR" sz="2800" b="1" dirty="0"/>
              <a:t>2. Transcrição</a:t>
            </a:r>
          </a:p>
          <a:p>
            <a:r>
              <a:rPr lang="pt-BR" sz="2800" dirty="0"/>
              <a:t>Conversão do áudio para texto utilizando o modelo </a:t>
            </a:r>
            <a:r>
              <a:rPr lang="pt-BR" sz="2800" dirty="0" err="1"/>
              <a:t>Whisper</a:t>
            </a:r>
            <a:r>
              <a:rPr lang="pt-BR" sz="2800" dirty="0"/>
              <a:t> (</a:t>
            </a:r>
            <a:r>
              <a:rPr lang="pt-BR" sz="2800" dirty="0" err="1"/>
              <a:t>OpenAI</a:t>
            </a:r>
            <a:r>
              <a:rPr lang="pt-BR" sz="2800" dirty="0"/>
              <a:t>) para padronização.</a:t>
            </a:r>
          </a:p>
          <a:p>
            <a:br>
              <a:rPr lang="pt-BR" sz="2800" b="1" dirty="0"/>
            </a:br>
            <a:r>
              <a:rPr lang="pt-BR" sz="2800" b="1" dirty="0"/>
              <a:t>3. Processamento</a:t>
            </a:r>
          </a:p>
          <a:p>
            <a:r>
              <a:rPr lang="pt-BR" sz="2800" dirty="0"/>
              <a:t>Aplicação de 3 famílias de modelos e 3 estratégias de </a:t>
            </a:r>
            <a:r>
              <a:rPr lang="pt-BR" sz="2800" dirty="0" err="1"/>
              <a:t>prompting</a:t>
            </a:r>
            <a:r>
              <a:rPr lang="pt-BR" sz="2800" dirty="0"/>
              <a:t> (</a:t>
            </a:r>
            <a:r>
              <a:rPr lang="pt-BR" sz="2800" dirty="0" err="1"/>
              <a:t>One-shot</a:t>
            </a:r>
            <a:r>
              <a:rPr lang="pt-BR" sz="2800" dirty="0"/>
              <a:t>, </a:t>
            </a:r>
            <a:r>
              <a:rPr lang="pt-BR" sz="2800" dirty="0" err="1"/>
              <a:t>Few-shot</a:t>
            </a:r>
            <a:r>
              <a:rPr lang="pt-BR" sz="2800" dirty="0"/>
              <a:t>, </a:t>
            </a:r>
            <a:r>
              <a:rPr lang="pt-BR" sz="2800" dirty="0" err="1"/>
              <a:t>CoT</a:t>
            </a:r>
            <a:r>
              <a:rPr lang="pt-BR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71453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F18F1-09E4-E79D-0CE2-6E3176D7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317C33-9958-21E6-924D-EA662F08372A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D81CA76-A80F-E4FD-2E19-6B52F679644F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4A26973-F846-02E9-59BC-C03FCE4DA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04672"/>
            <a:ext cx="9144000" cy="8891536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rtl="0"/>
            <a:r>
              <a:rPr lang="pt-BR" sz="4000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Modelos e Estratégias</a:t>
            </a:r>
          </a:p>
          <a:p>
            <a:br>
              <a:rPr lang="pt-BR" sz="4000" dirty="0"/>
            </a:br>
            <a:endParaRPr lang="pt-BR" sz="4000" dirty="0"/>
          </a:p>
          <a:p>
            <a:endParaRPr lang="pt-BR" sz="4000" dirty="0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endParaRPr lang="pt-BR" sz="4000" dirty="0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rtl="0"/>
            <a:r>
              <a:rPr lang="pt-BR" sz="2000" b="0" kern="1200" dirty="0">
                <a:solidFill>
                  <a:schemeClr val="tx1"/>
                </a:solidFill>
                <a:latin typeface="+mn-lt"/>
                <a:cs typeface="+mn-cs"/>
              </a:rPr>
              <a:t>Total de 18 combinações experimentais aplicadas a cada vídeo do </a:t>
            </a:r>
            <a:r>
              <a:rPr lang="pt-BR" sz="2000" b="0" kern="1200" dirty="0" err="1">
                <a:solidFill>
                  <a:schemeClr val="tx1"/>
                </a:solidFill>
                <a:latin typeface="+mn-lt"/>
                <a:cs typeface="+mn-cs"/>
              </a:rPr>
              <a:t>dataset</a:t>
            </a:r>
            <a:r>
              <a:rPr lang="pt-BR" sz="2000" b="0" kern="1200" dirty="0">
                <a:solidFill>
                  <a:schemeClr val="tx1"/>
                </a:solidFill>
                <a:latin typeface="+mn-lt"/>
                <a:cs typeface="+mn-cs"/>
              </a:rPr>
              <a:t>.</a:t>
            </a:r>
          </a:p>
          <a:p>
            <a:br>
              <a:rPr lang="pt-BR" dirty="0"/>
            </a:br>
            <a:br>
              <a:rPr lang="pt-BR" b="0" dirty="0"/>
            </a:br>
            <a:endParaRPr lang="pt-BR" sz="4000" dirty="0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br>
              <a:rPr lang="pt-BR" b="0" dirty="0"/>
            </a:br>
            <a:endParaRPr lang="en-US" sz="4000" dirty="0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12700" marR="5080" indent="908685" algn="ctr">
              <a:lnSpc>
                <a:spcPts val="7130"/>
              </a:lnSpc>
              <a:spcBef>
                <a:spcPts val="994"/>
              </a:spcBef>
            </a:pPr>
            <a:endParaRPr lang="pt-BR" sz="1800" spc="-5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FBE0A5C1-56B0-9252-1FC1-EB1A70A0B5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82400" y="6575178"/>
            <a:ext cx="399113" cy="130422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pt-BR" noProof="0" smtClean="0"/>
              <a:t>10</a:t>
            </a:fld>
            <a:endParaRPr lang="pt-BR" noProof="0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489622"/>
              </p:ext>
            </p:extLst>
          </p:nvPr>
        </p:nvGraphicFramePr>
        <p:xfrm>
          <a:off x="685800" y="2192338"/>
          <a:ext cx="10664824" cy="1481584"/>
        </p:xfrm>
        <a:graphic>
          <a:graphicData uri="http://schemas.openxmlformats.org/drawingml/2006/table">
            <a:tbl>
              <a:tblPr/>
              <a:tblGrid>
                <a:gridCol w="3025348">
                  <a:extLst>
                    <a:ext uri="{9D8B030D-6E8A-4147-A177-3AD203B41FA5}">
                      <a16:colId xmlns:a16="http://schemas.microsoft.com/office/drawing/2014/main" val="1196234577"/>
                    </a:ext>
                  </a:extLst>
                </a:gridCol>
                <a:gridCol w="3282216">
                  <a:extLst>
                    <a:ext uri="{9D8B030D-6E8A-4147-A177-3AD203B41FA5}">
                      <a16:colId xmlns:a16="http://schemas.microsoft.com/office/drawing/2014/main" val="2160113341"/>
                    </a:ext>
                  </a:extLst>
                </a:gridCol>
                <a:gridCol w="4357260">
                  <a:extLst>
                    <a:ext uri="{9D8B030D-6E8A-4147-A177-3AD203B41FA5}">
                      <a16:colId xmlns:a16="http://schemas.microsoft.com/office/drawing/2014/main" val="552631491"/>
                    </a:ext>
                  </a:extLst>
                </a:gridCol>
              </a:tblGrid>
              <a:tr h="37039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>
                          <a:solidFill>
                            <a:srgbClr val="FFFFFF"/>
                          </a:solidFill>
                          <a:effectLst/>
                          <a:latin typeface="Inter"/>
                        </a:rPr>
                        <a:t>Família de Modelos</a:t>
                      </a:r>
                      <a:endParaRPr lang="pt-BR" sz="3600">
                        <a:effectLst/>
                      </a:endParaRPr>
                    </a:p>
                  </a:txBody>
                  <a:tcPr marL="41060" marR="41060" marT="17597" marB="175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>
                          <a:solidFill>
                            <a:srgbClr val="FFFFFF"/>
                          </a:solidFill>
                          <a:effectLst/>
                          <a:latin typeface="Inter"/>
                        </a:rPr>
                        <a:t>Versões Testadas</a:t>
                      </a:r>
                      <a:endParaRPr lang="pt-BR" sz="3600">
                        <a:effectLst/>
                      </a:endParaRPr>
                    </a:p>
                  </a:txBody>
                  <a:tcPr marL="41060" marR="41060" marT="17597" marB="175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>
                          <a:solidFill>
                            <a:srgbClr val="FFFFFF"/>
                          </a:solidFill>
                          <a:effectLst/>
                          <a:latin typeface="Inter"/>
                        </a:rPr>
                        <a:t>Estratégias de Prompt</a:t>
                      </a:r>
                      <a:endParaRPr lang="pt-BR" sz="3600">
                        <a:effectLst/>
                      </a:endParaRPr>
                    </a:p>
                  </a:txBody>
                  <a:tcPr marL="41060" marR="41060" marT="17597" marB="175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052817"/>
                  </a:ext>
                </a:extLst>
              </a:tr>
              <a:tr h="37039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GPT (OpenAI)</a:t>
                      </a:r>
                      <a:endParaRPr lang="pt-BR" sz="3600">
                        <a:effectLst/>
                      </a:endParaRPr>
                    </a:p>
                  </a:txBody>
                  <a:tcPr marL="41060" marR="41060" marT="17597" marB="175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0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GPT-4o, GPT-4o mini</a:t>
                      </a:r>
                      <a:endParaRPr lang="pt-BR" sz="3600">
                        <a:effectLst/>
                      </a:endParaRPr>
                    </a:p>
                  </a:txBody>
                  <a:tcPr marL="41060" marR="41060" marT="17597" marB="175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0" i="0" u="none" strike="noStrike" dirty="0" err="1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One-shot</a:t>
                      </a:r>
                      <a:endParaRPr lang="pt-BR" sz="3600" dirty="0">
                        <a:effectLst/>
                      </a:endParaRPr>
                    </a:p>
                  </a:txBody>
                  <a:tcPr marL="41060" marR="41060" marT="17597" marB="175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159800"/>
                  </a:ext>
                </a:extLst>
              </a:tr>
              <a:tr h="37039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DeepSeek</a:t>
                      </a:r>
                      <a:endParaRPr lang="pt-BR" sz="3600">
                        <a:effectLst/>
                      </a:endParaRPr>
                    </a:p>
                  </a:txBody>
                  <a:tcPr marL="41060" marR="41060" marT="17597" marB="175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0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V4 Flash, V4 Pro</a:t>
                      </a:r>
                      <a:endParaRPr lang="pt-BR" sz="3600">
                        <a:effectLst/>
                      </a:endParaRPr>
                    </a:p>
                  </a:txBody>
                  <a:tcPr marL="41060" marR="41060" marT="17597" marB="175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0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Few-shot (exemplos)</a:t>
                      </a:r>
                      <a:endParaRPr lang="pt-BR" sz="3600">
                        <a:effectLst/>
                      </a:endParaRPr>
                    </a:p>
                  </a:txBody>
                  <a:tcPr marL="41060" marR="41060" marT="17597" marB="175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217879"/>
                  </a:ext>
                </a:extLst>
              </a:tr>
              <a:tr h="37039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Gemini (Google)</a:t>
                      </a:r>
                      <a:endParaRPr lang="pt-BR" sz="3600">
                        <a:effectLst/>
                      </a:endParaRPr>
                    </a:p>
                  </a:txBody>
                  <a:tcPr marL="41060" marR="41060" marT="17597" marB="175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0" i="0" u="none" strike="noStrike" dirty="0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2.5 Flash, 2.5 Pro</a:t>
                      </a:r>
                      <a:endParaRPr lang="pt-BR" sz="3600" dirty="0">
                        <a:effectLst/>
                      </a:endParaRPr>
                    </a:p>
                  </a:txBody>
                  <a:tcPr marL="41060" marR="41060" marT="17597" marB="175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0" i="0" u="none" strike="noStrike" dirty="0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Chain-of-Thought (raciocínio)</a:t>
                      </a:r>
                      <a:endParaRPr lang="pt-BR" sz="3600" dirty="0">
                        <a:effectLst/>
                      </a:endParaRPr>
                    </a:p>
                  </a:txBody>
                  <a:tcPr marL="41060" marR="41060" marT="17597" marB="175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916654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808288" y="19923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9108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F18F1-09E4-E79D-0CE2-6E3176D7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317C33-9958-21E6-924D-EA662F08372A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D81CA76-A80F-E4FD-2E19-6B52F679644F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FBE0A5C1-56B0-9252-1FC1-EB1A70A0B5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82400" y="6575178"/>
            <a:ext cx="399113" cy="130422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pt-BR" noProof="0" smtClean="0"/>
              <a:t>11</a:t>
            </a:fld>
            <a:endParaRPr lang="pt-BR" noProof="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808288" y="19923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idx="1"/>
          </p:nvPr>
        </p:nvSpPr>
        <p:spPr>
          <a:xfrm>
            <a:off x="838200" y="589697"/>
            <a:ext cx="6574536" cy="609310"/>
          </a:xfrm>
        </p:spPr>
        <p:txBody>
          <a:bodyPr/>
          <a:lstStyle/>
          <a:p>
            <a:pPr rtl="0"/>
            <a:r>
              <a:rPr lang="pt-BR" sz="4000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Resultados</a:t>
            </a:r>
          </a:p>
          <a:p>
            <a:endParaRPr lang="pt-BR" dirty="0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92313"/>
            <a:ext cx="10901261" cy="2503487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219200" y="4524375"/>
            <a:ext cx="9448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A família GPT apresentou o melhor equilíbrio (F1-Score), seguida de perto pela </a:t>
            </a:r>
            <a:r>
              <a:rPr lang="pt-BR" dirty="0" err="1"/>
              <a:t>DeepSeek</a:t>
            </a:r>
            <a:r>
              <a:rPr lang="pt-BR" dirty="0"/>
              <a:t>.</a:t>
            </a:r>
          </a:p>
          <a:p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1188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F18F1-09E4-E79D-0CE2-6E3176D7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317C33-9958-21E6-924D-EA662F08372A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D81CA76-A80F-E4FD-2E19-6B52F679644F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FBE0A5C1-56B0-9252-1FC1-EB1A70A0B5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82400" y="6575178"/>
            <a:ext cx="399113" cy="130422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pt-BR" noProof="0" smtClean="0"/>
              <a:t>12</a:t>
            </a:fld>
            <a:endParaRPr lang="pt-BR" noProof="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808288" y="19923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idx="1"/>
          </p:nvPr>
        </p:nvSpPr>
        <p:spPr>
          <a:xfrm>
            <a:off x="838200" y="589697"/>
            <a:ext cx="6574536" cy="609310"/>
          </a:xfrm>
        </p:spPr>
        <p:txBody>
          <a:bodyPr/>
          <a:lstStyle/>
          <a:p>
            <a:pPr rtl="0"/>
            <a:r>
              <a:rPr lang="pt-BR" sz="4000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Resultados</a:t>
            </a:r>
          </a:p>
          <a:p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1219200" y="4524375"/>
            <a:ext cx="9448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Contrariando a expectativa inicial, a estratégia </a:t>
            </a:r>
            <a:r>
              <a:rPr lang="pt-BR" b="1" dirty="0" err="1"/>
              <a:t>One-shot</a:t>
            </a:r>
            <a:r>
              <a:rPr lang="pt-BR" dirty="0"/>
              <a:t> foi, em média, mais eficaz que </a:t>
            </a:r>
            <a:r>
              <a:rPr lang="pt-BR" dirty="0" err="1"/>
              <a:t>prompts</a:t>
            </a:r>
            <a:r>
              <a:rPr lang="pt-BR" dirty="0"/>
              <a:t> mais elaborados.</a:t>
            </a:r>
          </a:p>
          <a:p>
            <a:r>
              <a:rPr lang="pt-BR" dirty="0"/>
              <a:t>Isso sugere que modelos modernos já possuem alta capacidade semântica para o domínio eleitoral sem necessidade de múltiplos exemplos.</a:t>
            </a:r>
          </a:p>
          <a:p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277491"/>
              </p:ext>
            </p:extLst>
          </p:nvPr>
        </p:nvGraphicFramePr>
        <p:xfrm>
          <a:off x="3387335" y="2362200"/>
          <a:ext cx="4025401" cy="1936748"/>
        </p:xfrm>
        <a:graphic>
          <a:graphicData uri="http://schemas.openxmlformats.org/drawingml/2006/table">
            <a:tbl>
              <a:tblPr/>
              <a:tblGrid>
                <a:gridCol w="2117133">
                  <a:extLst>
                    <a:ext uri="{9D8B030D-6E8A-4147-A177-3AD203B41FA5}">
                      <a16:colId xmlns:a16="http://schemas.microsoft.com/office/drawing/2014/main" val="1727472623"/>
                    </a:ext>
                  </a:extLst>
                </a:gridCol>
                <a:gridCol w="1908268">
                  <a:extLst>
                    <a:ext uri="{9D8B030D-6E8A-4147-A177-3AD203B41FA5}">
                      <a16:colId xmlns:a16="http://schemas.microsoft.com/office/drawing/2014/main" val="2788138703"/>
                    </a:ext>
                  </a:extLst>
                </a:gridCol>
              </a:tblGrid>
              <a:tr h="484187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Inter"/>
                        </a:rPr>
                        <a:t>Estratégia</a:t>
                      </a:r>
                      <a:endParaRPr lang="pt-BR" sz="1800">
                        <a:effectLst/>
                      </a:endParaRPr>
                    </a:p>
                  </a:txBody>
                  <a:tcPr marL="66457" marR="66457" marT="28482" marB="2848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Inter"/>
                        </a:rPr>
                        <a:t>F1-Score</a:t>
                      </a:r>
                      <a:endParaRPr lang="pt-BR" sz="1800">
                        <a:effectLst/>
                      </a:endParaRPr>
                    </a:p>
                  </a:txBody>
                  <a:tcPr marL="66457" marR="66457" marT="28482" marB="2848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3325"/>
                  </a:ext>
                </a:extLst>
              </a:tr>
              <a:tr h="484187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One-shot</a:t>
                      </a:r>
                      <a:endParaRPr lang="pt-BR" sz="1800">
                        <a:effectLst/>
                      </a:endParaRPr>
                    </a:p>
                  </a:txBody>
                  <a:tcPr marL="66457" marR="66457" marT="28482" marB="2848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1" i="0" u="none" strike="noStrike" dirty="0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0.9070</a:t>
                      </a:r>
                      <a:endParaRPr lang="pt-BR" sz="1800" dirty="0">
                        <a:effectLst/>
                      </a:endParaRPr>
                    </a:p>
                  </a:txBody>
                  <a:tcPr marL="66457" marR="66457" marT="28482" marB="2848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663161"/>
                  </a:ext>
                </a:extLst>
              </a:tr>
              <a:tr h="484187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CoT</a:t>
                      </a:r>
                      <a:endParaRPr lang="pt-BR" sz="1800">
                        <a:effectLst/>
                      </a:endParaRPr>
                    </a:p>
                  </a:txBody>
                  <a:tcPr marL="66457" marR="66457" marT="28482" marB="2848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0.8822</a:t>
                      </a:r>
                      <a:endParaRPr lang="pt-BR" sz="1800">
                        <a:effectLst/>
                      </a:endParaRPr>
                    </a:p>
                  </a:txBody>
                  <a:tcPr marL="66457" marR="66457" marT="28482" marB="2848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102322"/>
                  </a:ext>
                </a:extLst>
              </a:tr>
              <a:tr h="484187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Few-shot</a:t>
                      </a:r>
                      <a:endParaRPr lang="pt-BR" sz="1800">
                        <a:effectLst/>
                      </a:endParaRPr>
                    </a:p>
                  </a:txBody>
                  <a:tcPr marL="66457" marR="66457" marT="28482" marB="2848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 i="0" u="none" strike="noStrike" dirty="0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0.8699</a:t>
                      </a:r>
                      <a:endParaRPr lang="pt-BR" sz="1800" dirty="0">
                        <a:effectLst/>
                      </a:endParaRPr>
                    </a:p>
                  </a:txBody>
                  <a:tcPr marL="66457" marR="66457" marT="28482" marB="2848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166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303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F5A69-26EE-1235-F0C0-C7D640AF3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C650C2-7D69-DC99-B903-9826176105E3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75AA5EF-EB41-6BFA-D25C-BED71A9C2595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12346323-B938-AF44-6E7C-CD503A2B6E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82400" y="6575178"/>
            <a:ext cx="399113" cy="130422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pt-BR" noProof="0" smtClean="0"/>
              <a:t>13</a:t>
            </a:fld>
            <a:endParaRPr lang="pt-BR" noProof="0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90FE94B5-5A31-A369-585B-3D28E6DD5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89697"/>
            <a:ext cx="6574536" cy="609310"/>
          </a:xfrm>
        </p:spPr>
        <p:txBody>
          <a:bodyPr/>
          <a:lstStyle/>
          <a:p>
            <a:pPr rtl="0"/>
            <a:r>
              <a:rPr lang="pt-BR" sz="4000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Resultados</a:t>
            </a:r>
          </a:p>
          <a:p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A1281A0-B91C-AF5D-E841-DF05555BB8AE}"/>
              </a:ext>
            </a:extLst>
          </p:cNvPr>
          <p:cNvSpPr/>
          <p:nvPr/>
        </p:nvSpPr>
        <p:spPr>
          <a:xfrm>
            <a:off x="1370011" y="4925060"/>
            <a:ext cx="9448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/>
              <a:t>Contrariando a expectativa inicial, a estratégia </a:t>
            </a:r>
            <a:r>
              <a:rPr lang="pt-BR" b="1" dirty="0" err="1"/>
              <a:t>One</a:t>
            </a:r>
            <a:r>
              <a:rPr lang="pt-BR" b="1" dirty="0"/>
              <a:t>-shot</a:t>
            </a:r>
            <a:r>
              <a:rPr lang="pt-BR" dirty="0"/>
              <a:t> foi, em média, mais eficaz que prompts mais elaborados. Isso sugere que modelos modernos já possuem alta capacidade semântica para o domínio eleitoral sem necessidade de múltiplos exemplos ou uma cadeia de pensamento mais estruturada.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904A0DE-8DAB-013C-1D0F-67C9022863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7"/>
          <a:stretch>
            <a:fillRect/>
          </a:stretch>
        </p:blipFill>
        <p:spPr bwMode="auto">
          <a:xfrm>
            <a:off x="3030219" y="1447800"/>
            <a:ext cx="6128385" cy="34772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39213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CD0F1-21DB-1C37-966D-B9CD5EAD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3BF383-5FD8-24F2-1AEB-3803C7616AE1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59135FE-5EE3-F5BD-6B89-1063DF1B0BFA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0E5FC29B-53A8-5D60-F0C1-72CD988002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82400" y="6575178"/>
            <a:ext cx="399113" cy="130422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pt-BR" noProof="0" smtClean="0"/>
              <a:t>14</a:t>
            </a:fld>
            <a:endParaRPr lang="pt-BR" noProof="0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C4C6B0A1-A3BB-0534-6304-CEDE7F5D3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89697"/>
            <a:ext cx="6574536" cy="609310"/>
          </a:xfrm>
        </p:spPr>
        <p:txBody>
          <a:bodyPr/>
          <a:lstStyle/>
          <a:p>
            <a:pPr rtl="0"/>
            <a:r>
              <a:rPr lang="pt-BR" sz="4000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Resultados</a:t>
            </a:r>
          </a:p>
          <a:p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133391D-1865-E0A5-2267-4D18D13861D6}"/>
              </a:ext>
            </a:extLst>
          </p:cNvPr>
          <p:cNvSpPr/>
          <p:nvPr/>
        </p:nvSpPr>
        <p:spPr>
          <a:xfrm>
            <a:off x="1370010" y="4925060"/>
            <a:ext cx="99075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Confiabilidade do Sistema: </a:t>
            </a:r>
            <a:r>
              <a:rPr lang="pt-BR" dirty="0"/>
              <a:t>A alta taxa de consenso (85,2%) entre diferentes famílias de modelos valida a viabilidade da automação, enquanto as falhas unânimes (4,6%) demarcam o limite atual da IA frente a ambiguidades extremas nos dados.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16489D-DF7E-E24E-D4E6-8EC6406A5E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96"/>
          <a:stretch>
            <a:fillRect/>
          </a:stretch>
        </p:blipFill>
        <p:spPr>
          <a:xfrm>
            <a:off x="3276600" y="1295400"/>
            <a:ext cx="5858724" cy="362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79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94F1E-C0EF-E055-E620-2AA503707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F1F44BA-1912-4AAB-613C-2878133CE713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593A870-A130-98CB-AB04-893813F58F91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C09AA474-72E1-7EED-9E8E-A737248E26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82400" y="6575178"/>
            <a:ext cx="399113" cy="130422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pt-BR" noProof="0" smtClean="0"/>
              <a:t>15</a:t>
            </a:fld>
            <a:endParaRPr lang="pt-BR" noProof="0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D26E1EA-3476-4196-D4AB-C712BE143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89697"/>
            <a:ext cx="6574536" cy="609310"/>
          </a:xfrm>
        </p:spPr>
        <p:txBody>
          <a:bodyPr/>
          <a:lstStyle/>
          <a:p>
            <a:pPr rtl="0"/>
            <a:r>
              <a:rPr lang="pt-BR" sz="4000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Resultados</a:t>
            </a:r>
          </a:p>
          <a:p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5153EDF-7FFB-C83F-3623-F2362F5C4861}"/>
              </a:ext>
            </a:extLst>
          </p:cNvPr>
          <p:cNvSpPr/>
          <p:nvPr/>
        </p:nvSpPr>
        <p:spPr>
          <a:xfrm>
            <a:off x="1371600" y="4837439"/>
            <a:ext cx="990758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Hierarquia de Decisão:</a:t>
            </a:r>
            <a:r>
              <a:rPr lang="pt-BR" dirty="0"/>
              <a:t> O modelo de Machine Learning identificou que o </a:t>
            </a:r>
            <a:r>
              <a:rPr lang="pt-BR" b="1" dirty="0"/>
              <a:t>GPT-4o (</a:t>
            </a:r>
            <a:r>
              <a:rPr lang="pt-BR" b="1" dirty="0" err="1"/>
              <a:t>Few</a:t>
            </a:r>
            <a:r>
              <a:rPr lang="pt-BR" b="1" dirty="0"/>
              <a:t>-shot)</a:t>
            </a:r>
            <a:r>
              <a:rPr lang="pt-BR" dirty="0"/>
              <a:t> é o preditor mais confiável, detendo </a:t>
            </a:r>
            <a:r>
              <a:rPr lang="pt-BR" b="1" dirty="0"/>
              <a:t>39,8%</a:t>
            </a:r>
            <a:r>
              <a:rPr lang="pt-BR" dirty="0"/>
              <a:t> da importância na decisão final.</a:t>
            </a:r>
          </a:p>
          <a:p>
            <a:r>
              <a:rPr lang="pt-BR" b="1" dirty="0"/>
              <a:t>Sinergia Técnica:</a:t>
            </a:r>
            <a:r>
              <a:rPr lang="pt-BR" dirty="0"/>
              <a:t> O </a:t>
            </a:r>
            <a:r>
              <a:rPr lang="pt-BR" b="1" dirty="0"/>
              <a:t>DeepSeek (</a:t>
            </a:r>
            <a:r>
              <a:rPr lang="pt-BR" b="1" dirty="0" err="1"/>
              <a:t>CoT</a:t>
            </a:r>
            <a:r>
              <a:rPr lang="pt-BR" b="1" dirty="0"/>
              <a:t>)</a:t>
            </a:r>
            <a:r>
              <a:rPr lang="pt-BR" dirty="0"/>
              <a:t> atua como um validador crítico (</a:t>
            </a:r>
            <a:r>
              <a:rPr lang="pt-BR" b="1" dirty="0"/>
              <a:t>36,0%</a:t>
            </a:r>
            <a:r>
              <a:rPr lang="pt-BR" dirty="0"/>
              <a:t>), provando que o raciocínio estruturado (Chain-of-Thought) é um diferencial necessário para a precisão do sistema.</a:t>
            </a:r>
          </a:p>
          <a:p>
            <a:r>
              <a:rPr lang="pt-BR" b="1" dirty="0"/>
              <a:t>Estabilidade do Conjunto:</a:t>
            </a:r>
            <a:r>
              <a:rPr lang="pt-BR" dirty="0"/>
              <a:t> O </a:t>
            </a:r>
            <a:r>
              <a:rPr lang="pt-BR" b="1" dirty="0"/>
              <a:t>Gemini (</a:t>
            </a:r>
            <a:r>
              <a:rPr lang="pt-BR" b="1" dirty="0" err="1"/>
              <a:t>One</a:t>
            </a:r>
            <a:r>
              <a:rPr lang="pt-BR" b="1" dirty="0"/>
              <a:t>-shot)</a:t>
            </a:r>
            <a:r>
              <a:rPr lang="pt-BR" dirty="0"/>
              <a:t>, embora com menor peso relativo (</a:t>
            </a:r>
            <a:r>
              <a:rPr lang="pt-BR" b="1" dirty="0"/>
              <a:t>24,1%</a:t>
            </a:r>
            <a:r>
              <a:rPr lang="pt-BR" dirty="0"/>
              <a:t>), garante a consistência semântica básica do conjunto de modelos.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1E24F1D-B089-9580-B9DD-3094FAD9F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447800"/>
            <a:ext cx="6798573" cy="341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096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F18F1-09E4-E79D-0CE2-6E3176D7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317C33-9958-21E6-924D-EA662F08372A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D81CA76-A80F-E4FD-2E19-6B52F679644F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FBE0A5C1-56B0-9252-1FC1-EB1A70A0B5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82400" y="6575178"/>
            <a:ext cx="399113" cy="130422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pt-BR" noProof="0" smtClean="0"/>
              <a:t>16</a:t>
            </a:fld>
            <a:endParaRPr lang="pt-BR" noProof="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808288" y="19923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idx="1"/>
          </p:nvPr>
        </p:nvSpPr>
        <p:spPr>
          <a:xfrm>
            <a:off x="838200" y="589697"/>
            <a:ext cx="6574536" cy="615553"/>
          </a:xfrm>
        </p:spPr>
        <p:txBody>
          <a:bodyPr/>
          <a:lstStyle/>
          <a:p>
            <a:pPr rtl="0"/>
            <a:r>
              <a:rPr lang="pt-BR" sz="4000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Conclusão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685800" y="1600200"/>
            <a:ext cx="10664825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b="1" dirty="0">
                <a:latin typeface="Google Sans Text"/>
              </a:rPr>
              <a:t>Alta Eficácia:</a:t>
            </a:r>
            <a:r>
              <a:rPr lang="pt-BR" altLang="pt-BR" dirty="0">
                <a:latin typeface="Google Sans Text"/>
              </a:rPr>
              <a:t> A abordagem proposta alcançou um F1-score próximo a 0,93, validando o uso de </a:t>
            </a:r>
            <a:r>
              <a:rPr lang="pt-BR" altLang="pt-BR" dirty="0" err="1">
                <a:latin typeface="Google Sans Text"/>
              </a:rPr>
              <a:t>IAs</a:t>
            </a:r>
            <a:r>
              <a:rPr lang="pt-BR" altLang="pt-BR" dirty="0">
                <a:latin typeface="Google Sans Text"/>
              </a:rPr>
              <a:t> generativas como ferramentas de triagem inicial.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b="1" dirty="0">
                <a:latin typeface="Google Sans Text"/>
              </a:rPr>
              <a:t>Performance por Modelo:</a:t>
            </a:r>
            <a:r>
              <a:rPr lang="pt-BR" altLang="pt-BR" dirty="0">
                <a:latin typeface="Google Sans Text"/>
              </a:rPr>
              <a:t> A família  GPT apresentou o melhor desempenho médio, seguida pela </a:t>
            </a:r>
            <a:r>
              <a:rPr lang="pt-BR" altLang="pt-BR" dirty="0" err="1">
                <a:latin typeface="Google Sans Text"/>
              </a:rPr>
              <a:t>DeepSeek</a:t>
            </a:r>
            <a:r>
              <a:rPr lang="pt-BR" altLang="pt-BR" dirty="0">
                <a:latin typeface="Google Sans Text"/>
              </a:rPr>
              <a:t>, enquanto o </a:t>
            </a:r>
            <a:r>
              <a:rPr lang="pt-BR" altLang="pt-BR" dirty="0" err="1">
                <a:latin typeface="Google Sans Text"/>
              </a:rPr>
              <a:t>Gemini</a:t>
            </a:r>
            <a:r>
              <a:rPr lang="pt-BR" altLang="pt-BR" dirty="0">
                <a:latin typeface="Google Sans Text"/>
              </a:rPr>
              <a:t> mostrou maior variabilidade.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b="1" dirty="0">
                <a:latin typeface="Google Sans Text"/>
              </a:rPr>
              <a:t>Estratégias de Prompt:</a:t>
            </a:r>
            <a:r>
              <a:rPr lang="pt-BR" altLang="pt-BR" dirty="0">
                <a:latin typeface="Google Sans Text"/>
              </a:rPr>
              <a:t> Surpreendentemente, a abordagem </a:t>
            </a:r>
            <a:r>
              <a:rPr lang="pt-BR" altLang="pt-BR" i="1" dirty="0" err="1">
                <a:latin typeface="Google Sans Text"/>
              </a:rPr>
              <a:t>one-shot</a:t>
            </a:r>
            <a:r>
              <a:rPr lang="pt-BR" altLang="pt-BR" dirty="0">
                <a:latin typeface="Google Sans Text"/>
              </a:rPr>
              <a:t> foi a mais eficaz em média, embora o </a:t>
            </a:r>
            <a:r>
              <a:rPr lang="pt-BR" altLang="pt-BR" i="1" dirty="0" err="1">
                <a:latin typeface="Google Sans Text"/>
              </a:rPr>
              <a:t>few-shot</a:t>
            </a:r>
            <a:r>
              <a:rPr lang="pt-BR" altLang="pt-BR" dirty="0">
                <a:latin typeface="Google Sans Text"/>
              </a:rPr>
              <a:t> tenha obtido o melhor resultado absoluto em configurações específicas.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b="1" dirty="0">
                <a:latin typeface="Google Sans Text"/>
              </a:rPr>
              <a:t>Conformidade Jurídica:</a:t>
            </a:r>
            <a:r>
              <a:rPr lang="pt-BR" altLang="pt-BR" dirty="0">
                <a:latin typeface="Google Sans Text"/>
              </a:rPr>
              <a:t> O modelo de classificação alinha-se à Lei nº 9.504/1997 e às Resoluções do TSE, sendo capaz de identificar pedidos de voto tanto textuais quanto semânticos.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b="1" dirty="0">
                <a:latin typeface="Google Sans Text"/>
              </a:rPr>
              <a:t>Apoio Institucional:</a:t>
            </a:r>
            <a:r>
              <a:rPr lang="pt-BR" altLang="pt-BR" dirty="0">
                <a:latin typeface="Google Sans Text"/>
              </a:rPr>
              <a:t> A ferramenta não substitui a análise jurídica humana, mas atua como uma camada auxiliar para priorizar denúncias e reduzir o esforço manual em contextos de alto volume de dados.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3105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F18F1-09E4-E79D-0CE2-6E3176D7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317C33-9958-21E6-924D-EA662F08372A}"/>
              </a:ext>
            </a:extLst>
          </p:cNvPr>
          <p:cNvSpPr/>
          <p:nvPr/>
        </p:nvSpPr>
        <p:spPr>
          <a:xfrm>
            <a:off x="11372101" y="71184"/>
            <a:ext cx="712603" cy="113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D81CA76-A80F-E4FD-2E19-6B52F679644F}"/>
              </a:ext>
            </a:extLst>
          </p:cNvPr>
          <p:cNvSpPr/>
          <p:nvPr/>
        </p:nvSpPr>
        <p:spPr>
          <a:xfrm>
            <a:off x="838200" y="1199007"/>
            <a:ext cx="10512425" cy="0"/>
          </a:xfrm>
          <a:custGeom>
            <a:avLst/>
            <a:gdLst/>
            <a:ahLst/>
            <a:cxnLst/>
            <a:rect l="l" t="t" r="r" b="b"/>
            <a:pathLst>
              <a:path w="10512425">
                <a:moveTo>
                  <a:pt x="0" y="0"/>
                </a:moveTo>
                <a:lnTo>
                  <a:pt x="10512044" y="0"/>
                </a:lnTo>
              </a:path>
            </a:pathLst>
          </a:custGeom>
          <a:ln w="25400">
            <a:solidFill>
              <a:srgbClr val="2C2F46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FBE0A5C1-56B0-9252-1FC1-EB1A70A0B5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82400" y="6575178"/>
            <a:ext cx="399113" cy="130422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pt-BR" noProof="0" smtClean="0"/>
              <a:t>17</a:t>
            </a:fld>
            <a:endParaRPr lang="pt-BR" noProof="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808288" y="19923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idx="1"/>
          </p:nvPr>
        </p:nvSpPr>
        <p:spPr>
          <a:xfrm>
            <a:off x="838200" y="589697"/>
            <a:ext cx="6574536" cy="615553"/>
          </a:xfrm>
        </p:spPr>
        <p:txBody>
          <a:bodyPr/>
          <a:lstStyle/>
          <a:p>
            <a:pPr rtl="0"/>
            <a:r>
              <a:rPr lang="pt-BR" sz="4000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Trabalhos Futuros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761999" y="2449513"/>
            <a:ext cx="1058862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Arial" panose="020B0604020202020204" pitchFamily="34" charset="0"/>
              </a:rPr>
              <a:t>Expansão do Escopo: </a:t>
            </a:r>
            <a:r>
              <a:rPr lang="pt-BR" dirty="0">
                <a:latin typeface="Arial" panose="020B0604020202020204" pitchFamily="34" charset="0"/>
              </a:rPr>
              <a:t>Ampliar a análise para outros tipos de infrações eleitorais além da propaganda antecipada.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Arial" panose="020B0604020202020204" pitchFamily="34" charset="0"/>
              </a:rPr>
              <a:t>Refinamento de Prompt: </a:t>
            </a:r>
            <a:r>
              <a:rPr lang="pt-BR" dirty="0">
                <a:latin typeface="Arial" panose="020B0604020202020204" pitchFamily="34" charset="0"/>
              </a:rPr>
              <a:t>Incorporar ajustes adicionais nas instruções para torná-las ainda mais diretas e objetivas, visando reduzir a variabilidade de respostas entre diferentes modelos.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b="1" dirty="0">
                <a:latin typeface="Arial" panose="020B0604020202020204" pitchFamily="34" charset="0"/>
              </a:rPr>
              <a:t>Inclusão de Novos Modelos:</a:t>
            </a:r>
            <a:r>
              <a:rPr lang="pt-BR" altLang="pt-BR" dirty="0">
                <a:latin typeface="Arial" panose="020B0604020202020204" pitchFamily="34" charset="0"/>
              </a:rPr>
              <a:t> Testar novas versões de IA generativa e modelos de código aberto para avaliar a relação custo-benefício e a soberania de dados em aplicações governamentais. </a:t>
            </a:r>
          </a:p>
          <a:p>
            <a:r>
              <a:rPr lang="pt-BR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522331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C2F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</TotalTime>
  <Words>1136</Words>
  <Application>Microsoft Office PowerPoint</Application>
  <PresentationFormat>Widescreen</PresentationFormat>
  <Paragraphs>111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Google Sans Text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Kellyton Brito</dc:creator>
  <cp:lastModifiedBy>Júlio Brunno Coutinho</cp:lastModifiedBy>
  <cp:revision>10</cp:revision>
  <dcterms:created xsi:type="dcterms:W3CDTF">2025-11-09T16:46:00Z</dcterms:created>
  <dcterms:modified xsi:type="dcterms:W3CDTF">2026-07-08T03:44:05Z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2025-10-29T00:00:00Z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2025-11-09T00:00:00Z</vt:filetime>
  </property>
</Properties>
</file>